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816E6F3-AE75-40D0-8058-4CDF3483A4C2}">
          <p14:sldIdLst>
            <p14:sldId id="256"/>
            <p14:sldId id="257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ECF24-441A-F689-0475-D39218C4BA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F40816-A140-4D63-3006-E2A774139F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82830-A31D-0C9C-983B-AFBEDF821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BE9EA-AC83-4B5C-9F68-2FF3B79B77EE}" type="datetimeFigureOut">
              <a:rPr lang="en-AU" smtClean="0"/>
              <a:t>3/03/2025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4B23F-2442-5CC2-A562-565789150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9C284-E786-21BF-24E8-4E972A827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3CA0-A48E-44B5-A8A7-FB4EDC3CD1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5339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CBC31-8A50-F514-D04E-B407E5145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90157-E542-4664-EFB7-CA2FFB482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73FD0-5990-3528-A91E-500ABE7E1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BE9EA-AC83-4B5C-9F68-2FF3B79B77EE}" type="datetimeFigureOut">
              <a:rPr lang="en-AU" smtClean="0"/>
              <a:t>3/03/2025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85F4A-CF4E-94D3-0E57-7CAF67531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ED427-A0AA-3DB0-8398-E92B6898D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3CA0-A48E-44B5-A8A7-FB4EDC3CD1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1357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92F9E-FF0B-A67B-C60A-964496E76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47F71D-360B-7F85-98C0-CE8DB1E94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82B26-F0C8-C331-817A-67E3E8BE4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BE9EA-AC83-4B5C-9F68-2FF3B79B77EE}" type="datetimeFigureOut">
              <a:rPr lang="en-AU" smtClean="0"/>
              <a:t>3/03/2025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4C33E-D84F-8C12-689E-2C7A52726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65DCA-83E3-FA18-8E53-8BFB23152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3CA0-A48E-44B5-A8A7-FB4EDC3CD1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8558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79113-724C-CF72-E654-DBEA06BC7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69D11-497F-4B9B-E5F9-4692A5FB5C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CDD096-6CF4-CABC-F4D8-0919B16909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CBD7DE-11ED-BF12-2775-01509D65E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BE9EA-AC83-4B5C-9F68-2FF3B79B77EE}" type="datetimeFigureOut">
              <a:rPr lang="en-AU" smtClean="0"/>
              <a:t>3/03/2025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32E233-2445-ACCF-5154-5CCE8F7BD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4F1400-3DB8-5ABA-A3F6-6585072E5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3CA0-A48E-44B5-A8A7-FB4EDC3CD1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2915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7D21F-7074-8E63-FC30-57B56847F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18EF22-C9EC-D706-BF22-DAD62717E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C43EED-7C60-856C-980E-231E0813C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76249E-7753-FC81-1DB4-8A1B1804A3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C6CE7B-03B4-1429-5820-65524C44DA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6DECEA-5F48-C96A-113E-A6D275514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BE9EA-AC83-4B5C-9F68-2FF3B79B77EE}" type="datetimeFigureOut">
              <a:rPr lang="en-AU" smtClean="0"/>
              <a:t>3/03/2025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049DCF-A72C-E3B0-EBFC-78C7E2CD5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E50F16-3F06-493E-5102-49C717863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3CA0-A48E-44B5-A8A7-FB4EDC3CD1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1381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AE2F5-C288-D07F-0B0A-858A14AB2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B0D575-D9DB-1BFF-3B72-33D0C45EE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BE9EA-AC83-4B5C-9F68-2FF3B79B77EE}" type="datetimeFigureOut">
              <a:rPr lang="en-AU" smtClean="0"/>
              <a:t>3/03/2025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51C7B0-900D-24AC-0319-106F7DABE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0FFF13-E135-5B6D-86D6-19FD6C2E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3CA0-A48E-44B5-A8A7-FB4EDC3CD1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5480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2FC468-4A7D-64D2-56E9-B0E279FE0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BE9EA-AC83-4B5C-9F68-2FF3B79B77EE}" type="datetimeFigureOut">
              <a:rPr lang="en-AU" smtClean="0"/>
              <a:t>3/03/2025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1EA9C9-423F-0EEC-6C8F-CA203F716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E17C89-5F55-E58C-9E12-7A94D33BA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3CA0-A48E-44B5-A8A7-FB4EDC3CD1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0572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BC29B-BB46-D710-51DD-FC7B8E39B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36F36-8BAF-960A-46DB-E21FDC0F9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951C2-C462-A820-6F60-F4EB77D7BA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4B46D-C2B9-B33B-32D4-970B9121B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BE9EA-AC83-4B5C-9F68-2FF3B79B77EE}" type="datetimeFigureOut">
              <a:rPr lang="en-AU" smtClean="0"/>
              <a:t>3/03/2025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E8D42-BF9F-48E1-5393-66DA484F9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1B2C79-041D-2583-DE01-426379303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3CA0-A48E-44B5-A8A7-FB4EDC3CD1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8191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3FF5F-550B-45E6-BB33-5E59A7067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F17130-DE05-8E6E-02BC-ABBF425AEC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EA5F68-041D-4135-F87B-2700D8B5BB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00B28D-42C7-7A2B-0A2B-770D4557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BE9EA-AC83-4B5C-9F68-2FF3B79B77EE}" type="datetimeFigureOut">
              <a:rPr lang="en-AU" smtClean="0"/>
              <a:t>3/03/2025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AB5618-DFA0-F139-7966-697DB1D41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9BB456-EEC3-4948-3C8F-1D84F4149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3CA0-A48E-44B5-A8A7-FB4EDC3CD1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0477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64EFC-E4A6-9E1D-DA04-B89AEC512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A0943A-E978-5B44-4C21-00E0E5A4A6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FBD80-796A-6EE2-61CF-B414B3D8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BE9EA-AC83-4B5C-9F68-2FF3B79B77EE}" type="datetimeFigureOut">
              <a:rPr lang="en-AU" smtClean="0"/>
              <a:t>3/03/2025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9D659-08DA-344B-D130-654BB29DF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DA599-3507-D302-EB38-7F9712013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3CA0-A48E-44B5-A8A7-FB4EDC3CD1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7706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EF2BE5-5D42-1CCD-512C-167C27EB0C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432ADF-B20D-A598-5D9E-6A1291F1C1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7838C-581B-47C8-BB2D-3125594DE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BE9EA-AC83-4B5C-9F68-2FF3B79B77EE}" type="datetimeFigureOut">
              <a:rPr lang="en-AU" smtClean="0"/>
              <a:t>3/03/2025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5A0F6-806D-6D98-F1AC-862AD6221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E06B6-2015-9590-04C8-6E909AB1B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3CA0-A48E-44B5-A8A7-FB4EDC3CD1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2883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3D1F59-8767-003A-93D9-E5DE7C50C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33B0F-FDAD-DD03-666F-AE7D5D7CE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10439-4FB0-6F92-4B3B-F0D5750BBF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1BE9EA-AC83-4B5C-9F68-2FF3B79B77EE}" type="datetimeFigureOut">
              <a:rPr lang="en-AU" smtClean="0"/>
              <a:t>3/03/2025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CC79D-EAAD-0F85-5150-5112566FD6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81BA2-1B61-DF79-0548-3D284D5490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563CA0-A48E-44B5-A8A7-FB4EDC3CD1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9465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90721-F954-7AEE-4DFE-3C705073A5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SC3020 – Database System Principles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A46D4C-C182-CD44-E31E-B3E2E80986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Project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6F6F0A-36D6-7A50-D12C-BD58E9A76E6E}"/>
              </a:ext>
            </a:extLst>
          </p:cNvPr>
          <p:cNvSpPr txBox="1"/>
          <p:nvPr/>
        </p:nvSpPr>
        <p:spPr>
          <a:xfrm>
            <a:off x="2754086" y="4626429"/>
            <a:ext cx="7456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Team Members: Wang </a:t>
            </a:r>
            <a:r>
              <a:rPr lang="en-AU" dirty="0" err="1"/>
              <a:t>Chuanze</a:t>
            </a:r>
            <a:r>
              <a:rPr lang="en-AU" dirty="0"/>
              <a:t>, Izzat Hazim Bin Mustafa, Isaac Lim Jia Le, Janice Koh Swee En, Ivan Soji Varghese</a:t>
            </a:r>
          </a:p>
        </p:txBody>
      </p:sp>
    </p:spTree>
    <p:extLst>
      <p:ext uri="{BB962C8B-B14F-4D97-AF65-F5344CB8AC3E}">
        <p14:creationId xmlns:p14="http://schemas.microsoft.com/office/powerpoint/2010/main" val="1475166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AD018-3B41-39FB-25AA-ED0939233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B4EE6-DC81-7F6E-C9D7-41E8FCEAA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39203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21C08-E5D6-FEEF-BBF6-B07102D6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1579E-4A42-4C89-5BA3-9F5E7C720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project focuses on designing a database system with three main components: </a:t>
            </a:r>
            <a:r>
              <a:rPr lang="en-US" b="1" dirty="0"/>
              <a:t>Storage, Indexing, and Querying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goal is to efficiently manage and retrieve NBA game data stored on disk while optimizing query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well-structured database ensures fast access and improved efficiency, particularly for large datasets.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 will cover the design, implementation, and evaluation of each component in detail.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3433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C9A2A-472F-9146-89D4-40BB40997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Installation Guide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1162D-C7B8-6129-5806-F0240F9EC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Programming Language:</a:t>
            </a:r>
            <a:r>
              <a:rPr lang="en-US" dirty="0"/>
              <a:t> C++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Why C++?</a:t>
            </a:r>
          </a:p>
          <a:p>
            <a:pPr lvl="1"/>
            <a:r>
              <a:rPr lang="en-US" dirty="0"/>
              <a:t>Provides fine-grained memory management to optimize performance.</a:t>
            </a:r>
          </a:p>
          <a:p>
            <a:pPr lvl="1"/>
            <a:r>
              <a:rPr lang="en-US" dirty="0"/>
              <a:t>Includes data structures like std::vector, std::map, and std::list for efficient indexing.</a:t>
            </a:r>
          </a:p>
          <a:p>
            <a:pPr lvl="1"/>
            <a:r>
              <a:rPr lang="en-US" dirty="0"/>
              <a:t>Allows manual memory allocation, improving buffer pool and caching mechanisms.</a:t>
            </a:r>
            <a:endParaRPr lang="en-AU" dirty="0"/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Development Environment:</a:t>
            </a:r>
          </a:p>
          <a:p>
            <a:pPr lvl="1"/>
            <a:r>
              <a:rPr lang="en-US" dirty="0"/>
              <a:t>Code was compiled and tested using C++ compilers with standard libraries.</a:t>
            </a:r>
          </a:p>
          <a:p>
            <a:pPr lvl="1"/>
            <a:r>
              <a:rPr lang="en-US" dirty="0"/>
              <a:t>Efficient file handling techniques were used to store and retrieve data.</a:t>
            </a:r>
          </a:p>
          <a:p>
            <a:pPr lvl="1"/>
            <a:endParaRPr lang="en-AU" dirty="0"/>
          </a:p>
          <a:p>
            <a:endParaRPr lang="en-US" dirty="0"/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09313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AE435-50C4-D0B2-4D49-982F94DF9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 Storage Component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1E20D-0DF8-4F2F-F3B6-A23773167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Purpose:</a:t>
            </a:r>
            <a:r>
              <a:rPr lang="en-US" dirty="0"/>
              <a:t> The storage component is responsible for storing, managing, and retrieving NBA game data.</a:t>
            </a:r>
          </a:p>
          <a:p>
            <a:r>
              <a:rPr lang="en-US" dirty="0"/>
              <a:t>Data Schema: The database stores structured records with attributes like GAME_DATE_EST, </a:t>
            </a:r>
            <a:r>
              <a:rPr lang="en-US" dirty="0" err="1"/>
              <a:t>TEAM_ID_home</a:t>
            </a:r>
            <a:r>
              <a:rPr lang="en-US" dirty="0"/>
              <a:t>, </a:t>
            </a:r>
            <a:r>
              <a:rPr lang="en-US" dirty="0" err="1"/>
              <a:t>PTS_home</a:t>
            </a:r>
            <a:r>
              <a:rPr lang="en-US" dirty="0"/>
              <a:t>, </a:t>
            </a:r>
            <a:r>
              <a:rPr lang="en-US" dirty="0" err="1"/>
              <a:t>FG_PCT_home</a:t>
            </a:r>
            <a:r>
              <a:rPr lang="en-US" dirty="0"/>
              <a:t>, etc.</a:t>
            </a:r>
          </a:p>
          <a:p>
            <a:r>
              <a:rPr lang="en-US" b="1" dirty="0"/>
              <a:t>Fixed-Size Records:</a:t>
            </a:r>
            <a:r>
              <a:rPr lang="en-US" dirty="0"/>
              <a:t> Using a uniform record size ensures predictable storage allocation and access speed.</a:t>
            </a:r>
          </a:p>
          <a:p>
            <a:r>
              <a:rPr lang="en-US" b="1" dirty="0"/>
              <a:t>Storage Efficiency:</a:t>
            </a:r>
            <a:r>
              <a:rPr lang="en-US" dirty="0"/>
              <a:t> Data is stored efficiently to minimize disk space and I/O operations.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48367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B3847-B55B-99B1-7B0B-251E677F6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/>
              <a:t>Record Storage &amp; Serialization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FFB77-2001-E770-8A96-BEF642F433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Serialization: Converts structured records into a byte stream for disk storage. Required for compact storage and efficient reading/writing of records.</a:t>
            </a:r>
          </a:p>
          <a:p>
            <a:r>
              <a:rPr lang="en-US" b="1" dirty="0"/>
              <a:t>Deserialization:</a:t>
            </a:r>
            <a:r>
              <a:rPr lang="en-US" dirty="0"/>
              <a:t> Restores records from byte streams back into usable structures.</a:t>
            </a:r>
          </a:p>
          <a:p>
            <a:r>
              <a:rPr lang="en-AU" b="1" dirty="0"/>
              <a:t>Why is this necessary?</a:t>
            </a:r>
            <a:endParaRPr lang="en-AU" dirty="0"/>
          </a:p>
          <a:p>
            <a:pPr lvl="1"/>
            <a:r>
              <a:rPr lang="en-US" dirty="0"/>
              <a:t>Raw byte streams lack inherent structure, making direct access difficult.</a:t>
            </a:r>
          </a:p>
          <a:p>
            <a:pPr lvl="1"/>
            <a:r>
              <a:rPr lang="en-US" dirty="0"/>
              <a:t>Serialization enables efficient data transfers and structured storage.</a:t>
            </a:r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76040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1648D-843B-408B-91CB-C53D57885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Block Storage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2DB11-81AA-8452-1E56-7FD7726CD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Block Structure:</a:t>
            </a:r>
            <a:r>
              <a:rPr lang="en-US" dirty="0"/>
              <a:t> Data is stored in fixed-size blocks for optimized disk access.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Block Size:</a:t>
            </a:r>
            <a:r>
              <a:rPr lang="en-US" dirty="0"/>
              <a:t> 4096 bytes (4KB), chosen for efficient I/O operations.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Record Size:</a:t>
            </a:r>
            <a:r>
              <a:rPr lang="en-US" dirty="0"/>
              <a:t> Each record is 40 bytes.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Records Per Block:</a:t>
            </a:r>
            <a:r>
              <a:rPr lang="en-US" dirty="0"/>
              <a:t> 102 records can be stored per block (4096 / 40).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Total Blocks Required:</a:t>
            </a:r>
            <a:r>
              <a:rPr lang="en-US" dirty="0"/>
              <a:t> 262 blocks are needed to store 26,651 records.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29540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A2E5D-F986-9CF6-B6FD-A980BD39E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Block &amp; Disk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EA396-A3CB-D763-7913-910AEBBDC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Block Class Methods:</a:t>
            </a:r>
          </a:p>
          <a:p>
            <a:pPr lvl="1"/>
            <a:r>
              <a:rPr lang="en-US" dirty="0" err="1"/>
              <a:t>addRecord</a:t>
            </a:r>
            <a:r>
              <a:rPr lang="en-US" dirty="0"/>
              <a:t>(): Adds a new record to a block.</a:t>
            </a:r>
          </a:p>
          <a:p>
            <a:pPr lvl="1"/>
            <a:r>
              <a:rPr lang="en-US" dirty="0" err="1"/>
              <a:t>isFull</a:t>
            </a:r>
            <a:r>
              <a:rPr lang="en-US" dirty="0"/>
              <a:t>(): Checks whether a block has reached its storage capacity.</a:t>
            </a:r>
          </a:p>
          <a:p>
            <a:pPr lvl="1"/>
            <a:r>
              <a:rPr lang="en-US" dirty="0"/>
              <a:t>serialize() &amp; deserialize(): Convert blocks to/from byte streams for disk storage.</a:t>
            </a:r>
          </a:p>
          <a:p>
            <a:r>
              <a:rPr lang="en-US" dirty="0"/>
              <a:t>Disk Class </a:t>
            </a:r>
            <a:r>
              <a:rPr lang="en-US" dirty="0" err="1"/>
              <a:t>Methods:writeBlock</a:t>
            </a:r>
            <a:r>
              <a:rPr lang="en-US" dirty="0"/>
              <a:t>(): Writes a block to disk.</a:t>
            </a:r>
          </a:p>
          <a:p>
            <a:r>
              <a:rPr lang="en-US" dirty="0" err="1"/>
              <a:t>readBlock</a:t>
            </a:r>
            <a:r>
              <a:rPr lang="en-US" dirty="0"/>
              <a:t>(): Loads a block from disk into memory for processing.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17375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BF5C3-6188-DCA7-C287-45A00F417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 1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2B3CF-BD36-1BA6-6E20-C311124C5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Record Size:</a:t>
            </a:r>
            <a:r>
              <a:rPr lang="en-US" dirty="0"/>
              <a:t> 40 bytes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Total Records:</a:t>
            </a:r>
            <a:r>
              <a:rPr lang="en-US" dirty="0"/>
              <a:t> 26,651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Block Size:</a:t>
            </a:r>
            <a:r>
              <a:rPr lang="en-US" dirty="0"/>
              <a:t> 4KB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Records Per Block:</a:t>
            </a:r>
            <a:r>
              <a:rPr lang="en-US" dirty="0"/>
              <a:t> 102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Total Blocks Needed:</a:t>
            </a:r>
            <a:r>
              <a:rPr lang="en-US" dirty="0"/>
              <a:t> 262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Total Disk Space Used:</a:t>
            </a:r>
            <a:r>
              <a:rPr lang="en-US" dirty="0"/>
              <a:t> ~1MB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Storage Efficiency:</a:t>
            </a:r>
            <a:r>
              <a:rPr lang="en-US" dirty="0"/>
              <a:t> Balanced trade-off between storage space and access speed.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72780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747F2-825E-7D5F-1B7E-D0B15B960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Indexing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87410-0282-AEEF-9D27-2C4430110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Use Indexing?</a:t>
            </a:r>
          </a:p>
          <a:p>
            <a:pPr lvl="1"/>
            <a:r>
              <a:rPr lang="en-US" dirty="0"/>
              <a:t>Searching without an index requires O(n) time complexity (linear scan).</a:t>
            </a:r>
          </a:p>
          <a:p>
            <a:pPr lvl="1"/>
            <a:r>
              <a:rPr lang="en-US" dirty="0"/>
              <a:t>Implementing a B+ Tree index improves search efficiency to O(log n).</a:t>
            </a:r>
          </a:p>
          <a:p>
            <a:r>
              <a:rPr lang="en-US" dirty="0"/>
              <a:t>Key Attribute for Indexing: </a:t>
            </a:r>
            <a:r>
              <a:rPr lang="en-US" dirty="0" err="1"/>
              <a:t>FG_PCT_home</a:t>
            </a:r>
            <a:r>
              <a:rPr lang="en-US" dirty="0"/>
              <a:t>, which enables efficient query performance.</a:t>
            </a:r>
          </a:p>
          <a:p>
            <a:r>
              <a:rPr lang="en-US" dirty="0"/>
              <a:t>B+ Tree Benefits: Faster lookup times and optimized disk access.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74533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77632-51A6-50F4-1641-A03ACE995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B+ Tree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9DBF7-862C-F753-9F2A-83577D3F4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Bulk Loading Method: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More efficient than inserting records sequentially.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Ensures the B+ tree remains balanced for optimal query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Steps in Bulk Loading: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Create an initial leaf node as the root.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Insert records into leaf nodes sequentially.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When full, split nodes and promote keys to parent nodes.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Maintain a linked list for efficient range queries.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70401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BDE01-6C16-E715-0FB7-AD6221D54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BPlusTreeNode</a:t>
            </a:r>
            <a:r>
              <a:rPr lang="en-AU" dirty="0"/>
              <a:t>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F0C2E-7267-12B9-9F66-297086CC5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Structure:</a:t>
            </a:r>
            <a:r>
              <a:rPr lang="en-US" dirty="0"/>
              <a:t> Defines internal and leaf nodes to store keys and pointers.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Key Features: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Uses vectors to dynamically store keys.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Leaf nodes are linked to enable fast sequential scans.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Tree Height Calculation: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Given order </a:t>
            </a:r>
            <a:r>
              <a:rPr lang="en-US" b="1" dirty="0"/>
              <a:t>n = 32</a:t>
            </a:r>
            <a:r>
              <a:rPr lang="en-US" dirty="0"/>
              <a:t>, the tree has a height of </a:t>
            </a:r>
            <a:r>
              <a:rPr lang="en-US" b="1" dirty="0"/>
              <a:t>3 levels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Queries traverse at most 3 nodes to retrieve a record, improving efficiency.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377699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7B602-1537-FEDF-90FF-D13633504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Querying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9F07C-379F-25C0-B81D-EDCCD739F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Query Task: Retrieve records where </a:t>
            </a:r>
            <a:r>
              <a:rPr lang="en-US" dirty="0" err="1"/>
              <a:t>FG_PCT_home</a:t>
            </a:r>
            <a:r>
              <a:rPr lang="en-US" dirty="0"/>
              <a:t> is in the range 0.6 to 0.9.</a:t>
            </a:r>
          </a:p>
          <a:p>
            <a:r>
              <a:rPr lang="en-US" dirty="0"/>
              <a:t>Performance Comparison:</a:t>
            </a:r>
          </a:p>
          <a:p>
            <a:pPr lvl="1"/>
            <a:r>
              <a:rPr lang="en-US" dirty="0"/>
              <a:t>B+ Tree: Efficiently locates relevant records using indexed keys.</a:t>
            </a:r>
          </a:p>
          <a:p>
            <a:pPr lvl="1"/>
            <a:r>
              <a:rPr lang="en-US" dirty="0"/>
              <a:t>Brute-force Scan: Requires scanning all records, which is much slower.</a:t>
            </a:r>
          </a:p>
          <a:p>
            <a:r>
              <a:rPr lang="en-US" dirty="0"/>
              <a:t>Query Results:</a:t>
            </a:r>
          </a:p>
          <a:p>
            <a:pPr lvl="1"/>
            <a:r>
              <a:rPr lang="en-US" dirty="0"/>
              <a:t>Index Nodes Accessed: 19</a:t>
            </a:r>
          </a:p>
          <a:p>
            <a:pPr lvl="1"/>
            <a:r>
              <a:rPr lang="en-US" dirty="0"/>
              <a:t>Data Blocks Accessed: 17 (vs. 262 for brute-force scanning).</a:t>
            </a:r>
          </a:p>
          <a:p>
            <a:pPr lvl="1"/>
            <a:r>
              <a:rPr lang="en-US" dirty="0"/>
              <a:t>Execution Time: The B+ Tree is 900x faster than a linear scan.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76467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67BA1-C7DA-AC9F-7C26-D56DD3632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4FE66-1698-8BE8-6136-A204FF1BC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Project Achievements: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Successfully implemented a structured storage system using C++.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B+ Tree indexing improved query response times significantly.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Key Lessons Learned: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Structured storage enables efficient data retrieval.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Proper indexing reduces query execution time dramatically.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Future Enhancements: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Further optimize disk I/O operations to improve performance.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Implement additional indexing techniques for varied query optimizations.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73099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877</Words>
  <Application>Microsoft Office PowerPoint</Application>
  <PresentationFormat>Widescreen</PresentationFormat>
  <Paragraphs>94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SC3020 – Database System Principles</vt:lpstr>
      <vt:lpstr>Contents</vt:lpstr>
      <vt:lpstr>Introduction</vt:lpstr>
      <vt:lpstr>Installation Guide</vt:lpstr>
      <vt:lpstr> Storage Component Design</vt:lpstr>
      <vt:lpstr>Record Storage &amp; Serialization</vt:lpstr>
      <vt:lpstr>Block Storage Design</vt:lpstr>
      <vt:lpstr>Block &amp; Disk Implementation</vt:lpstr>
      <vt:lpstr>Task 1 Statistics</vt:lpstr>
      <vt:lpstr>Indexing Component</vt:lpstr>
      <vt:lpstr>B+ Tree Design</vt:lpstr>
      <vt:lpstr>BPlusTreeNode Class</vt:lpstr>
      <vt:lpstr>Querying Component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Varghese</dc:creator>
  <cp:lastModifiedBy>Ivan Varghese</cp:lastModifiedBy>
  <cp:revision>8</cp:revision>
  <dcterms:created xsi:type="dcterms:W3CDTF">2025-03-03T11:26:08Z</dcterms:created>
  <dcterms:modified xsi:type="dcterms:W3CDTF">2025-03-03T14:01:51Z</dcterms:modified>
</cp:coreProperties>
</file>